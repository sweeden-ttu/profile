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69" r:id="rId4"/>
    <p:sldId id="257" r:id="rId5"/>
    <p:sldId id="258" r:id="rId6"/>
    <p:sldId id="259" r:id="rId7"/>
    <p:sldId id="260" r:id="rId8"/>
    <p:sldId id="262" r:id="rId9"/>
    <p:sldId id="263" r:id="rId10"/>
    <p:sldId id="261" r:id="rId11"/>
    <p:sldId id="264" r:id="rId12"/>
    <p:sldId id="270" r:id="rId13"/>
    <p:sldId id="265" r:id="rId14"/>
    <p:sldId id="268" r:id="rId15"/>
    <p:sldId id="273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455" y="897890"/>
            <a:ext cx="7772400" cy="2840990"/>
          </a:xfrm>
        </p:spPr>
        <p:txBody>
          <a:bodyPr/>
          <a:lstStyle/>
          <a:p>
            <a:pPr algn="ctr"/>
            <a:r>
              <a:rPr lang="en-US" altLang="en-US">
                <a:solidFill>
                  <a:srgbClr val="000000"/>
                </a:solidFill>
              </a:rPr>
              <a:t> Universal Medical Image Segmentation via In-Context</a:t>
            </a:r>
            <a:br>
              <a:rPr lang="en-US" altLang="en-US">
                <a:solidFill>
                  <a:srgbClr val="000000"/>
                </a:solidFill>
              </a:rPr>
            </a:br>
            <a:r>
              <a:rPr lang="en-US" altLang="en-US">
                <a:solidFill>
                  <a:srgbClr val="000000"/>
                </a:solidFill>
              </a:rPr>
              <a:t> Learning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96000" y="5087620"/>
            <a:ext cx="3048000" cy="1628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GB" sz="1600" b="1">
                <a:latin typeface="Arial" panose="020B0604020202020204" pitchFamily="34" charset="0"/>
                <a:cs typeface="Arial" panose="020B0604020202020204" pitchFamily="34" charset="0"/>
              </a:rPr>
              <a:t>Team 1</a:t>
            </a:r>
            <a:r>
              <a:rPr lang="en-US" altLang="en-IN" sz="1600" b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altLang="en-GB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IN" sz="1600">
                <a:latin typeface="Arial" panose="020B0604020202020204" pitchFamily="34" charset="0"/>
                <a:cs typeface="Arial" panose="020B0604020202020204" pitchFamily="34" charset="0"/>
              </a:rPr>
              <a:t>Phaninder Masapeta</a:t>
            </a:r>
            <a:endParaRPr lang="en-IN" altLang="en-GB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Sriya Dhakal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Akhila Ravula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Zezheng Zhang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Scott Weeden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Introduction</a:t>
            </a:r>
            <a:endParaRPr 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14830"/>
            <a:ext cx="8229600" cy="4953000"/>
          </a:xfrm>
        </p:spPr>
        <p:txBody>
          <a:bodyPr/>
          <a:p>
            <a:r>
              <a:rPr lang="en-US" altLang="en-US" sz="1800"/>
              <a:t>Medical image segmentation is critical for diagnosis, treatment planning, and disease monitoring.</a:t>
            </a:r>
            <a:endParaRPr lang="en-US" altLang="en-US" sz="1800"/>
          </a:p>
          <a:p>
            <a:r>
              <a:rPr lang="en-US" altLang="en-US" sz="1800"/>
              <a:t>Challenge: Diverse anatomical structures, modalities (CT, MRI), and tasks require task-specific models.</a:t>
            </a:r>
            <a:endParaRPr lang="en-US" altLang="en-US" sz="1800"/>
          </a:p>
          <a:p>
            <a:r>
              <a:rPr lang="en-US" altLang="en-US" sz="1800"/>
              <a:t>Deep learning struggles with generalization to unseen classes without retraining.</a:t>
            </a:r>
            <a:endParaRPr lang="en-US" altLang="en-US" sz="1800"/>
          </a:p>
          <a:p>
            <a:r>
              <a:rPr lang="en-US" altLang="en-US" sz="1800"/>
              <a:t>Solution: Iris, a novel in-context learning framework for universal medical image segmentation.</a:t>
            </a:r>
            <a:endParaRPr lang="en-US" altLang="en-US" sz="1800"/>
          </a:p>
          <a:p>
            <a:r>
              <a:rPr lang="en-US" altLang="en-US" sz="1800"/>
              <a:t>Our project re-implements Iris, focusing on one-shot learning and novel technologies.</a:t>
            </a:r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Objectives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953000"/>
          </a:xfrm>
        </p:spPr>
        <p:txBody>
          <a:bodyPr/>
          <a:lstStyle/>
          <a:p>
            <a:pPr>
              <a:defRPr sz="2000"/>
            </a:pPr>
            <a:r>
              <a:rPr lang="en-US" altLang="en-US" sz="1800"/>
              <a:t>Re-implement the Iris framework for 3D medical image segmentation.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Reproduce paper’s results: ~84.52% Dice for in-distribution tasks (AMOS, BCV, CHAOS).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Implement novel technologies: self-supervised pretraining and multiple reference aggregation ((k=3)).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Conduct experiments on AMOS, BCV, and CHAOS datasets.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Generate visualizations: segmentation results, t-SNE embeddings, performance bar chart, ablation study plot.</a:t>
            </a:r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Iris Methodology</a:t>
            </a:r>
            <a:endParaRPr lang="en-US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360" y="1692910"/>
            <a:ext cx="8229600" cy="495300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US" altLang="en-US" sz="1800" b="1"/>
              <a:t>Overview</a:t>
            </a:r>
            <a:r>
              <a:rPr lang="en-US" altLang="en-US" sz="1800"/>
              <a:t>: Iris enables flexible segmentation using reference image-label pairs without fine-tuning.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 b="1"/>
              <a:t>Architecture</a:t>
            </a:r>
            <a:r>
              <a:rPr lang="en-US" altLang="en-US" sz="1800"/>
              <a:t>: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>
              <a:defRPr sz="2000"/>
            </a:pPr>
            <a:r>
              <a:rPr lang="en-US" altLang="en-US" sz="1800"/>
              <a:t>3D UNet Encoder: Extracts multi-scale features from input volumes.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Task Encoder: Distills task-specific information into compact embeddings.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Transformer-based Mask Decoder: Generates segmentation masks using task embeddings.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Key Feature: Decouples task encoding from inference, supporting one-shot and multi-reference strategies.</a:t>
            </a:r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 Datasets</a:t>
            </a:r>
            <a:endParaRPr lang="en-US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31950"/>
            <a:ext cx="8229600" cy="4953000"/>
          </a:xfrm>
        </p:spPr>
        <p:txBody>
          <a:bodyPr/>
          <a:lstStyle/>
          <a:p>
            <a:pPr>
              <a:defRPr sz="2000"/>
            </a:pPr>
            <a:r>
              <a:rPr lang="en-US" altLang="en-US" sz="1800" b="1"/>
              <a:t>AMOS</a:t>
            </a:r>
            <a:r>
              <a:rPr lang="en-US" altLang="en-US" sz="1800"/>
              <a:t>: 500 CT, 100 MRI scans; 15 abdominal organs (liver, spleen, kidneys, etc.).</a:t>
            </a: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/>
              <a:t>Source: https://amos22.grand-challenge.org/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>
              <a:defRPr sz="2000"/>
            </a:pPr>
            <a:r>
              <a:rPr lang="en-US" altLang="en-US" sz="1800" b="1"/>
              <a:t>BCV </a:t>
            </a:r>
            <a:r>
              <a:rPr lang="en-US" altLang="en-US" sz="1800"/>
              <a:t>(AbdomenCT-1K): ~50–100 CT scans; organs like liver, spleen, kidneys.</a:t>
            </a: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/>
              <a:t>Source: https://www.synapse.org/#!Synapse:syn3193805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>
              <a:defRPr sz="2000"/>
            </a:pPr>
            <a:r>
              <a:rPr lang="en-US" altLang="en-US" sz="1800" b="1"/>
              <a:t>CHAOS</a:t>
            </a:r>
            <a:r>
              <a:rPr lang="en-US" altLang="en-US" sz="1800"/>
              <a:t>: 20 CT, 20 MRI (T1-DUAL, T2-SPIR); liver, kidneys, spleen annotations.</a:t>
            </a: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/>
              <a:t>Source: https://zenodo.org/records/3362845</a:t>
            </a:r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Training Process</a:t>
            </a:r>
            <a:endParaRPr lang="en-US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91310"/>
            <a:ext cx="8193405" cy="495300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US" altLang="en-US" sz="1800" b="1"/>
              <a:t>Data Preparation</a:t>
            </a:r>
            <a:r>
              <a:rPr lang="en-US" altLang="en-US" sz="1800"/>
              <a:t>: Preprocess datasets to 128×128×128 using preprocess.py.</a:t>
            </a:r>
            <a:endParaRPr lang="en-US" altLang="en-US" sz="1800"/>
          </a:p>
          <a:p>
            <a:pPr marL="0" indent="0">
              <a:buNone/>
              <a:defRPr sz="2000"/>
            </a:pP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 b="1"/>
              <a:t>Pretraining</a:t>
            </a:r>
            <a:r>
              <a:rPr lang="en-US" altLang="en-US" sz="1800"/>
              <a:t>: Self-supervised 3D SimCLR on unlabeled AMOS data to enhance encoder.</a:t>
            </a:r>
            <a:endParaRPr lang="en-US" altLang="en-US" sz="1800"/>
          </a:p>
          <a:p>
            <a:pPr marL="0" indent="0">
              <a:buNone/>
              <a:defRPr sz="2000"/>
            </a:pP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 b="1"/>
              <a:t>Training</a:t>
            </a:r>
            <a:r>
              <a:rPr lang="en-US" altLang="en-US" sz="1800"/>
              <a:t>: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>
              <a:defRPr sz="2000"/>
            </a:pPr>
            <a:r>
              <a:rPr lang="en-US" altLang="en-US" sz="1800"/>
              <a:t>One-shot learning with reference image-label pairs.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Lamb optimizer, 80K iterations, learning rate 2e-4, weight decay 1e-5.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Loss: Dice loss (1 - Dice score).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Multi-Reference: Attention-based aggregation for (k=3) references.</a:t>
            </a:r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Experimental Setup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120" y="1652270"/>
            <a:ext cx="8234680" cy="495300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US" altLang="en-US" sz="1800" b="1"/>
              <a:t>Datasets</a:t>
            </a:r>
            <a:r>
              <a:rPr lang="en-US" altLang="en-US" sz="1800"/>
              <a:t>: AMOS, BCV, CHAOS (training/validation splits).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 b="1"/>
              <a:t>Models</a:t>
            </a:r>
            <a:r>
              <a:rPr lang="en-US" altLang="en-US" sz="1800"/>
              <a:t>: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>
              <a:defRPr sz="2000"/>
            </a:pPr>
            <a:r>
              <a:rPr lang="en-US" altLang="en-US" sz="1800"/>
              <a:t>Original Iris ((k=1)).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Iris + Pretraining ((k=1)).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Iris + 3 References ((k=3)).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Iris + Pretraining + 3 References.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Hardware: NVIDIA GPU, 16 GB VRAM.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 b="1"/>
              <a:t>Metrics</a:t>
            </a:r>
            <a:r>
              <a:rPr lang="en-US" altLang="en-US" sz="1800"/>
              <a:t>: Dice Similarity Coefficient (DSC) for segmentation accuracy.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 b="1"/>
              <a:t>Evaluation</a:t>
            </a:r>
            <a:r>
              <a:rPr lang="en-US" altLang="en-US" sz="1800"/>
              <a:t>: In-distribution (AMOS, BCV, CHAOS) and out-of-distribution (KiTS).</a:t>
            </a:r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Results</a:t>
            </a:r>
            <a:r>
              <a:rPr 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endParaRPr 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7990840" cy="495300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US" altLang="en-US" sz="1800" b="1"/>
              <a:t>In-Distribution Results:</a:t>
            </a:r>
            <a:endParaRPr lang="en-US" altLang="en-US" sz="1800" b="1"/>
          </a:p>
          <a:p>
            <a:pPr>
              <a:defRPr sz="2000"/>
            </a:pPr>
            <a:r>
              <a:rPr lang="en-US" altLang="en-US" sz="1800"/>
              <a:t>AMOS: 84.52% (Original), 86.01% (+Pretraining), 85.30% (+3Refs), 86.75% (+Pretraining+3Refs).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BCV: 83.01%, 84.50%, 83.80%, 85.02%.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CHAOS: 82.05%, 83.50%, 82.80%, 84.01%.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 b="1"/>
              <a:t>Out-of-Distribution: </a:t>
            </a:r>
            <a:endParaRPr lang="en-US" altLang="en-US" sz="1800" b="1"/>
          </a:p>
          <a:p>
            <a:pPr marL="0" indent="0">
              <a:buNone/>
              <a:defRPr sz="2000"/>
            </a:pPr>
            <a:r>
              <a:rPr lang="en-US" altLang="en-US" sz="1800"/>
              <a:t>KiTS: 79.03% (Original), 81.02% (+Pretraining+3Refs).</a:t>
            </a:r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Performance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76595"/>
            <a:ext cx="8229600" cy="351155"/>
          </a:xfrm>
        </p:spPr>
        <p:txBody>
          <a:bodyPr/>
          <a:lstStyle/>
          <a:p>
            <a:pPr marL="0" indent="0" algn="ctr">
              <a:buNone/>
              <a:defRPr sz="2000"/>
            </a:pPr>
            <a:r>
              <a:rPr lang="en-US" altLang="en-US" b="1"/>
              <a:t>Analysis of different inference strategies</a:t>
            </a:r>
            <a:endParaRPr lang="en-US" altLang="en-US" b="1"/>
          </a:p>
        </p:txBody>
      </p:sp>
      <p:pic>
        <p:nvPicPr>
          <p:cNvPr id="4" name="Picture 3" descr="Screenshot 2025-07-24 1025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1490" y="1169035"/>
            <a:ext cx="5112385" cy="42119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Comparison with </a:t>
            </a:r>
            <a:r>
              <a:rPr 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Previous </a:t>
            </a:r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Methods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1630"/>
            <a:ext cx="8229600" cy="495300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US" altLang="en-US" sz="1800" b="1"/>
              <a:t>Traditional Models</a:t>
            </a:r>
            <a:r>
              <a:rPr lang="en-US" altLang="en-US" sz="1800"/>
              <a:t>: Task-specific CNNs (e.g., U-Net) require retraining for new tasks.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 b="1"/>
              <a:t>Foundation Models</a:t>
            </a:r>
            <a:r>
              <a:rPr lang="en-US" altLang="en-US" sz="1800"/>
              <a:t>: SAM, MedSAM need multiple prompts, less efficient for 3D data.</a:t>
            </a:r>
            <a:endParaRPr lang="en-US" altLang="en-US" sz="1800"/>
          </a:p>
          <a:p>
            <a:pPr>
              <a:defRPr sz="2000"/>
            </a:pPr>
            <a:endParaRPr lang="en-US" altLang="en-US" sz="1800"/>
          </a:p>
          <a:p>
            <a:pPr marL="0" indent="0">
              <a:buNone/>
              <a:defRPr sz="2000"/>
            </a:pPr>
            <a:r>
              <a:rPr lang="en-US" altLang="en-US" sz="1800" b="1"/>
              <a:t>Iris Advantages</a:t>
            </a:r>
            <a:r>
              <a:rPr lang="en-US" altLang="en-US" sz="1800"/>
              <a:t>:</a:t>
            </a:r>
            <a:endParaRPr lang="en-US" altLang="en-US" sz="1800"/>
          </a:p>
          <a:p>
            <a:pPr marL="0" indent="0">
              <a:buNone/>
              <a:defRPr sz="2000"/>
            </a:pPr>
            <a:endParaRPr lang="en-US" altLang="en-US" sz="1800"/>
          </a:p>
          <a:p>
            <a:pPr>
              <a:defRPr sz="2000"/>
            </a:pPr>
            <a:r>
              <a:rPr lang="en-US" altLang="en-US" sz="1800"/>
              <a:t>One-shot learning without fine-tuning.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Superior generalization: 28.28% DSC on MSD Pancreas Tumor vs. 11.97% (best competitor).</a:t>
            </a:r>
            <a:endParaRPr lang="en-US" altLang="en-US" sz="1800"/>
          </a:p>
          <a:p>
            <a:pPr>
              <a:defRPr sz="2000"/>
            </a:pPr>
            <a:r>
              <a:rPr lang="en-US" altLang="en-US" sz="1800"/>
              <a:t>Efficient: Decoupled task encoding reduces inference time.</a:t>
            </a:r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Our Novel Technologies</a:t>
            </a:r>
            <a:endParaRPr lang="en-US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2270"/>
            <a:ext cx="8229600" cy="4953000"/>
          </a:xfrm>
        </p:spPr>
        <p:txBody>
          <a:bodyPr/>
          <a:p>
            <a:pPr marL="0" indent="0">
              <a:buNone/>
            </a:pPr>
            <a:r>
              <a:rPr lang="en-US" altLang="en-US" sz="1800" b="1"/>
              <a:t>Self-Supervised Pretraining:</a:t>
            </a:r>
            <a:endParaRPr lang="en-US" altLang="en-US" sz="1800" b="1"/>
          </a:p>
          <a:p>
            <a:pPr marL="0" indent="0">
              <a:buNone/>
            </a:pPr>
            <a:endParaRPr lang="en-US" altLang="en-US" sz="1800"/>
          </a:p>
          <a:p>
            <a:r>
              <a:rPr lang="en-US" altLang="en-US" sz="1800"/>
              <a:t>3D SimCLR on unlabeled AMOS data.</a:t>
            </a:r>
            <a:endParaRPr lang="en-US" altLang="en-US" sz="1800"/>
          </a:p>
          <a:p>
            <a:r>
              <a:rPr lang="en-US" altLang="en-US" sz="1800"/>
              <a:t>Improves feature extraction, boosting Dice by ~1–2%.</a:t>
            </a:r>
            <a:endParaRPr lang="en-US" altLang="en-US" sz="1800"/>
          </a:p>
          <a:p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Multiple Reference Aggregation:</a:t>
            </a:r>
            <a:endParaRPr lang="en-US" altLang="en-US" sz="1800" b="1"/>
          </a:p>
          <a:p>
            <a:endParaRPr lang="en-US" altLang="en-US" sz="1800"/>
          </a:p>
          <a:p>
            <a:r>
              <a:rPr lang="en-US" altLang="en-US" sz="1800"/>
              <a:t>Attention-based task embedding for (k=3) references.</a:t>
            </a:r>
            <a:endParaRPr lang="en-US" altLang="en-US" sz="1800"/>
          </a:p>
          <a:p>
            <a:r>
              <a:rPr lang="en-US" altLang="en-US" sz="1800"/>
              <a:t>Enhances robustness, improves Dice by ~0.8–1.2%.</a:t>
            </a:r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Conclusion</a:t>
            </a:r>
            <a:endParaRPr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3459480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lang="en-US" altLang="en-US" sz="1800"/>
              <a:t>The paper presents Iris, a groundbreaking framework that achieves universal medical image segmentation through in-context learning. By leveraging a 3D UNet encoder, task encoder, and transformer-based mask decoder, Iris enables one-shot segmentation across diverse tasks and modalities (CT, MRI) without retraining. Experiments on AMOS, BCV, and CHAOS datasets demonstrate strong in-distribution performance (~84.52% Dice) and robust generalization to unseen tasks (e.g., 28.28% Dice on MSD Pancreas Tumor). Novel technologies like self-supervised pretraining and multiple reference aggregation further enhance accuracy and robustness. Iris offers a scalable, efficient solution for clinical applications, paving the way for flexible, generalizable medical image segmentation.</a:t>
            </a:r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GB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Future Scope</a:t>
            </a:r>
            <a:endParaRPr lang="en-IN" altLang="en-GB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67230"/>
            <a:ext cx="8229600" cy="3540760"/>
          </a:xfrm>
        </p:spPr>
        <p:txBody>
          <a:bodyPr/>
          <a:p>
            <a:pPr marL="0" indent="0">
              <a:buNone/>
            </a:pPr>
            <a:r>
              <a:rPr lang="en-US" altLang="en-US" sz="1800"/>
              <a:t>The future scope of our Iris framework project includes expanding to datasets like MSD Pancreas Tumor and pelvic datasets for broader applicability, exploring higher $ k $ values for improved multi-reference aggregation, integrating with real-time clinical workflows, enhancing pretraining with larger unlabeled datasets, and developing interactive prompting with MedSAM for dynamic, clinician-driven segmentation, aiming to boost accuracy and clinical utility.</a:t>
            </a:r>
            <a:endParaRPr lang="en-US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References</a:t>
            </a:r>
            <a:endParaRPr 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" y="1642110"/>
            <a:ext cx="8229600" cy="4404995"/>
          </a:xfrm>
        </p:spPr>
        <p:txBody>
          <a:bodyPr/>
          <a:p>
            <a:pPr marL="0" indent="0" algn="just">
              <a:buNone/>
            </a:pPr>
            <a:r>
              <a:rPr lang="en-US" altLang="en-US" sz="1400"/>
              <a:t> [1] Michela Antonelli, Annika Reinke, Spyridon Bakas, Key van Farahani, Annette Kopp-Schneider, Bennett A Landman, Geert Litjens, Bjoern Menze, Olaf Ronneberger, Ronald M Summers, et al. The medical segmentation decathlon. Nature communications, 13(1):4128, 2022.</a:t>
            </a:r>
            <a:endParaRPr lang="en-US" altLang="en-US" sz="1400"/>
          </a:p>
          <a:p>
            <a:pPr marL="0" indent="0" algn="just">
              <a:buNone/>
            </a:pPr>
            <a:r>
              <a:rPr lang="en-US" altLang="en-US" sz="1400"/>
              <a:t>[2] Olivier Bernard, Alain Lalande, Clement Zotti, Frederick Cervenansky, Xin Yang, Pheng-Ann Heng, Irem Cetin, Karim Lekadir, Oscar Camara, Miguel Angel Gonzalez Ballester, et al. Deep learning techniques for automatic mri cardiac multi-structures segmentation and diagnosis: is the problem solved? IEEE transactions on medical imaging, 37(11): 2514–2525, 2018.</a:t>
            </a:r>
            <a:endParaRPr lang="en-US" altLang="en-US" sz="1400"/>
          </a:p>
          <a:p>
            <a:pPr marL="0" indent="0" algn="just">
              <a:buNone/>
            </a:pPr>
            <a:r>
              <a:rPr lang="en-US" altLang="en-US" sz="1400"/>
              <a:t>[3] Patrick Bilic, Patrick Ferdinand Christ, Eugene Vorontsov, Grzegorz Chlebus, Hao Chen, Qi Dou, Chi-Wing Fu, Xiao Han, Pheng-Ann Heng, Jürgen Hesser, et al. The liver tumor segmentation benchmark (lits). arXiv preprint arXiv:1901.04056, 2019.</a:t>
            </a:r>
            <a:endParaRPr lang="en-US" altLang="en-US" sz="1400"/>
          </a:p>
          <a:p>
            <a:pPr marL="0" indent="0" algn="just">
              <a:buNone/>
            </a:pPr>
            <a:r>
              <a:rPr lang="en-US" altLang="en-US" sz="1400"/>
              <a:t>[4] Tom Brown, Benjamin Mann, Nick Ryder, Melanie Sub biah, Jared D Kaplan, Prafulla Dhariwal, Arvind Neelakantan, Pranav Shyam, Girish Sastry, Amanda Askell, et al. Language models are few-shot learners. Advances in neural information processing systems, 33:1877–1901, 2020.</a:t>
            </a:r>
            <a:endParaRPr lang="en-US" altLang="en-US" sz="1400"/>
          </a:p>
          <a:p>
            <a:pPr marL="0" indent="0" algn="just">
              <a:buNone/>
            </a:pPr>
            <a:r>
              <a:rPr lang="en-US" altLang="en-US" sz="1400"/>
              <a:t>[5] Victor Ion Butoi, Jose Javier Gonzalez Ortiz, Tianyu Ma,Mert R Sabuncu, John Guttag, and Adrian V Dalca. Universeg: Universal medical image segmentation. In Proceedings of the IEEE/CVF International Conference on Computer Vision, pages 21438–21451, 2023.</a:t>
            </a:r>
            <a:endParaRPr lang="en-US" altLang="en-US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47950"/>
            <a:ext cx="8229600" cy="2047875"/>
          </a:xfrm>
        </p:spPr>
        <p:txBody>
          <a:bodyPr/>
          <a:p>
            <a:pPr marL="0" indent="0" algn="ctr">
              <a:buNone/>
            </a:pPr>
            <a:r>
              <a:rPr lang="en-US" sz="8000"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Thank You! </a:t>
            </a:r>
            <a:endParaRPr lang="en-US" sz="8000"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6321</Words>
  <Application>WPS Presentation</Application>
  <PresentationFormat>On-screen Show (4:3)</PresentationFormat>
  <Paragraphs>132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Communications and Dialogues</vt:lpstr>
      <vt:lpstr>Reinforcement Learning for Android Malware Detection</vt:lpstr>
      <vt:lpstr>PowerPoint 演示文稿</vt:lpstr>
      <vt:lpstr>Objectives</vt:lpstr>
      <vt:lpstr>DroidRL Overview</vt:lpstr>
      <vt:lpstr>Key Reinforcement Learning Concepts</vt:lpstr>
      <vt:lpstr>Decision Network Design</vt:lpstr>
      <vt:lpstr>Experimental Setup</vt:lpstr>
      <vt:lpstr>Results and Performance</vt:lpstr>
      <vt:lpstr>Training Process</vt:lpstr>
      <vt:lpstr>Comparison with Other Methods</vt:lpstr>
      <vt:lpstr>PowerPoint 演示文稿</vt:lpstr>
      <vt:lpstr>Conclusion</vt:lpstr>
      <vt:lpstr>Future Scope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WPS_1703423038</cp:lastModifiedBy>
  <cp:revision>5</cp:revision>
  <dcterms:created xsi:type="dcterms:W3CDTF">2013-01-27T09:14:00Z</dcterms:created>
  <dcterms:modified xsi:type="dcterms:W3CDTF">2025-07-24T16:45:41Z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AD618F698D0040CE97D8D065B6C09B00_12</vt:lpwstr>
  </property>
  <property fmtid="{D5CDD505-2E9C-101B-9397-08002B2CF9AE}" pid="3" name="KSOProductBuildVer">
    <vt:lpwstr>1033-12.2.0.21931</vt:lpwstr>
  </property>
</Properties>
</file>