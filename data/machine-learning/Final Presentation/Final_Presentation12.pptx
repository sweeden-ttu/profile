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74" r:id="rId5"/>
    <p:sldId id="262" r:id="rId6"/>
    <p:sldId id="258" r:id="rId7"/>
    <p:sldId id="259" r:id="rId8"/>
    <p:sldId id="265" r:id="rId9"/>
    <p:sldId id="267" r:id="rId10"/>
    <p:sldId id="269" r:id="rId11"/>
    <p:sldId id="268" r:id="rId12"/>
    <p:sldId id="275" r:id="rId13"/>
    <p:sldId id="270" r:id="rId14"/>
    <p:sldId id="271" r:id="rId15"/>
    <p:sldId id="272" r:id="rId16"/>
    <p:sldId id="27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ea typeface="+mj-lt"/>
                <a:cs typeface="+mj-lt"/>
              </a:rPr>
              <a:t>Show and Segment: Universal Medical Image Segmentation via In-Context Learning</a:t>
            </a:r>
            <a:endParaRPr lang="en-US" sz="40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41826" y="4386125"/>
            <a:ext cx="9144000" cy="237358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algn="r"/>
            <a:r>
              <a:rPr lang="en-US" b="1" dirty="0">
                <a:ea typeface="+mn-lt"/>
                <a:cs typeface="+mn-lt"/>
              </a:rPr>
              <a:t>TEAM 12</a:t>
            </a:r>
            <a:endParaRPr lang="en-US" b="1" dirty="0">
              <a:ea typeface="+mn-lt"/>
              <a:cs typeface="+mn-lt"/>
            </a:endParaRPr>
          </a:p>
          <a:p>
            <a:pPr algn="r"/>
            <a:r>
              <a:rPr lang="en-US" sz="2000" dirty="0">
                <a:ea typeface="+mn-lt"/>
                <a:cs typeface="+mn-lt"/>
              </a:rPr>
              <a:t>Akhila Ravula</a:t>
            </a:r>
            <a:endParaRPr lang="en-US" sz="2000"/>
          </a:p>
          <a:p>
            <a:pPr algn="r"/>
            <a:r>
              <a:rPr lang="en-US" sz="2000" dirty="0">
                <a:ea typeface="+mn-lt"/>
                <a:cs typeface="+mn-lt"/>
              </a:rPr>
              <a:t>Phaninder </a:t>
            </a:r>
            <a:r>
              <a:rPr lang="en-US" sz="2000" dirty="0" err="1">
                <a:ea typeface="+mn-lt"/>
                <a:cs typeface="+mn-lt"/>
              </a:rPr>
              <a:t>Masapeta</a:t>
            </a:r>
            <a:endParaRPr lang="en-US" sz="2000" dirty="0"/>
          </a:p>
          <a:p>
            <a:pPr algn="r"/>
            <a:r>
              <a:rPr lang="en-US" sz="2000" dirty="0">
                <a:ea typeface="+mn-lt"/>
                <a:cs typeface="+mn-lt"/>
              </a:rPr>
              <a:t>Scott Weeden</a:t>
            </a:r>
            <a:endParaRPr lang="en-US" sz="2000"/>
          </a:p>
          <a:p>
            <a:pPr algn="r"/>
            <a:r>
              <a:rPr lang="en-US" sz="2000" dirty="0">
                <a:ea typeface="+mn-lt"/>
                <a:cs typeface="+mn-lt"/>
              </a:rPr>
              <a:t>Sriya Dhakal</a:t>
            </a:r>
            <a:endParaRPr lang="en-US" sz="2000"/>
          </a:p>
          <a:p>
            <a:pPr algn="r"/>
            <a:r>
              <a:rPr lang="en-US" sz="2000" dirty="0" err="1">
                <a:ea typeface="+mn-lt"/>
                <a:cs typeface="+mn-lt"/>
              </a:rPr>
              <a:t>Zezheng</a:t>
            </a:r>
            <a:r>
              <a:rPr lang="en-US" sz="2000" dirty="0">
                <a:ea typeface="+mn-lt"/>
                <a:cs typeface="+mn-lt"/>
              </a:rPr>
              <a:t> Zhang</a:t>
            </a:r>
            <a:endParaRPr lang="en-US" sz="2000"/>
          </a:p>
          <a:p>
            <a:pPr algn="r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Introduction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ea typeface="+mn-lt"/>
                <a:cs typeface="+mn-lt"/>
              </a:rPr>
              <a:t>Medical image segmentation is critical for diagnosis, treatment planning, and disease monitoring.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Challenge: Diverse anatomical structures, modalities (CT, MRI), and tasks require task-specific models.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Deep learning struggles with generalization to unseen classes without retraining.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Solution: Iris, a novel in-context learning framework for universal medical image segmentation.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Our project re-implements Iris, focusing on one-shot learning and novel technologies.</a:t>
            </a:r>
            <a:endParaRPr lang="en-US" sz="2400" dirty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720"/>
            <a:ext cx="10515600" cy="1325563"/>
          </a:xfrm>
        </p:spPr>
        <p:txBody>
          <a:bodyPr/>
          <a:lstStyle/>
          <a:p>
            <a:r>
              <a:rPr lang="en-US" dirty="0"/>
              <a:t>Iris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27004"/>
            <a:ext cx="10515600" cy="532958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/>
              <a:t>Task Encoding Module</a:t>
            </a:r>
            <a:endParaRPr lang="en-US" sz="2400" b="1" dirty="0"/>
          </a:p>
          <a:p>
            <a:r>
              <a:rPr lang="en-US" sz="1600" dirty="0"/>
              <a:t>Foreground feature extraction at high resolution</a:t>
            </a:r>
            <a:endParaRPr lang="en-US" sz="1600" dirty="0"/>
          </a:p>
          <a:p>
            <a:r>
              <a:rPr lang="en-US" sz="1600" dirty="0"/>
              <a:t>Contextual encoding using learnable query tokens</a:t>
            </a:r>
            <a:endParaRPr lang="en-US" sz="1600" dirty="0"/>
          </a:p>
          <a:p>
            <a:r>
              <a:rPr lang="en-US" sz="1600" dirty="0"/>
              <a:t>Produces compact task embedding T ∈ R^(m+1)×C</a:t>
            </a:r>
            <a:endParaRPr lang="en-US" sz="16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2400" b="1" dirty="0"/>
              <a:t>Image Encoder</a:t>
            </a:r>
            <a:endParaRPr lang="en-US" sz="2400" b="1" dirty="0"/>
          </a:p>
          <a:p>
            <a:r>
              <a:rPr lang="en-US" sz="1600" b="1" dirty="0"/>
              <a:t>3D </a:t>
            </a:r>
            <a:r>
              <a:rPr lang="en-US" sz="1600" b="1" err="1"/>
              <a:t>UNet</a:t>
            </a:r>
            <a:r>
              <a:rPr lang="en-US" sz="1600" dirty="0"/>
              <a:t> with 4 </a:t>
            </a:r>
            <a:r>
              <a:rPr lang="en-US" sz="1600" err="1"/>
              <a:t>downsampling</a:t>
            </a:r>
            <a:r>
              <a:rPr lang="en-US" sz="1600" dirty="0"/>
              <a:t> stages</a:t>
            </a:r>
            <a:endParaRPr lang="en-US" sz="1600" dirty="0"/>
          </a:p>
          <a:p>
            <a:r>
              <a:rPr lang="en-US" sz="1600" dirty="0"/>
              <a:t>Base channels: 32</a:t>
            </a:r>
            <a:endParaRPr lang="en-US" sz="1600" dirty="0"/>
          </a:p>
          <a:p>
            <a:r>
              <a:rPr lang="en-US" sz="1600" dirty="0"/>
              <a:t>Residual connections</a:t>
            </a:r>
            <a:endParaRPr lang="en-US" sz="16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2400" b="1" dirty="0"/>
              <a:t>Mask Decoder</a:t>
            </a:r>
            <a:endParaRPr lang="en-US" sz="2400" b="1" dirty="0"/>
          </a:p>
          <a:p>
            <a:r>
              <a:rPr lang="en-US" sz="1600" dirty="0"/>
              <a:t>Query-based architecture with cross-attention</a:t>
            </a:r>
            <a:endParaRPr lang="en-US" sz="1600" dirty="0"/>
          </a:p>
          <a:p>
            <a:r>
              <a:rPr lang="en-US" sz="1600" dirty="0"/>
              <a:t>Integrates task embeddings with query features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sets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90668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AMOS</a:t>
            </a:r>
            <a:r>
              <a:rPr lang="en-US" dirty="0">
                <a:ea typeface="+mn-lt"/>
                <a:cs typeface="+mn-lt"/>
              </a:rPr>
              <a:t> (Abdominal Multi-Organ): CT/MRI, 15 organs – 238 samples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BCV</a:t>
            </a:r>
            <a:r>
              <a:rPr lang="en-US" dirty="0">
                <a:ea typeface="+mn-lt"/>
                <a:cs typeface="+mn-lt"/>
              </a:rPr>
              <a:t>: (Beyond Cranial Vault): CT, 13 organs – 83 samples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CHAOS</a:t>
            </a:r>
            <a:r>
              <a:rPr lang="en-US" dirty="0">
                <a:ea typeface="+mn-lt"/>
                <a:cs typeface="+mn-lt"/>
              </a:rPr>
              <a:t>: 20 CT, 20 MRI, 4 organs</a:t>
            </a:r>
            <a:endParaRPr lang="en-US" dirty="0"/>
          </a:p>
          <a:p>
            <a:r>
              <a:rPr lang="en-US" b="1" dirty="0"/>
              <a:t>KITS19 </a:t>
            </a:r>
            <a:r>
              <a:rPr lang="en-US" dirty="0"/>
              <a:t>: CT, kidney &amp; tumor – 300 samples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and Preprocessing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20736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AMOS: 500 CT, 100 MRI scans (Ji et al., 2022)</a:t>
            </a: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15 organ labels, diverse clinical scenarios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Used 3-4 CT images for few-shot learning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Train: 240 scans, Validation: 120 scans</a:t>
            </a: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Loaded 3D CT data (MONAI, </a:t>
            </a:r>
            <a:r>
              <a:rPr lang="en-US" dirty="0" err="1">
                <a:ea typeface="+mn-lt"/>
                <a:cs typeface="+mn-lt"/>
              </a:rPr>
              <a:t>NiBabel</a:t>
            </a:r>
            <a:r>
              <a:rPr lang="en-US" dirty="0">
                <a:ea typeface="+mn-lt"/>
                <a:cs typeface="+mn-lt"/>
              </a:rPr>
              <a:t>)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Normalized images, added channel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Labeled liver, kidneys, spleen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Augmented: Rotation, zoom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96x96x96 patches for GPU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sz="3200" b="1" dirty="0">
                <a:latin typeface="Aptos"/>
              </a:rPr>
              <a:t>Key Claims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b="1" dirty="0">
                <a:ea typeface="+mn-lt"/>
                <a:cs typeface="+mn-lt"/>
              </a:rPr>
              <a:t>In-context adaptation</a:t>
            </a:r>
            <a:r>
              <a:rPr lang="en-US" sz="2400" dirty="0">
                <a:ea typeface="+mn-lt"/>
                <a:cs typeface="+mn-lt"/>
              </a:rPr>
              <a:t>: Model can segment novel anatomical structures using only a single reference example</a:t>
            </a:r>
            <a:endParaRPr lang="en-US" sz="2400"/>
          </a:p>
          <a:p>
            <a:r>
              <a:rPr lang="en-US" sz="2400" b="1" dirty="0">
                <a:ea typeface="+mn-lt"/>
                <a:cs typeface="+mn-lt"/>
              </a:rPr>
              <a:t>Superior generalization</a:t>
            </a:r>
            <a:r>
              <a:rPr lang="en-US" sz="2400" dirty="0">
                <a:ea typeface="+mn-lt"/>
                <a:cs typeface="+mn-lt"/>
              </a:rPr>
              <a:t>: Achieves 82-86% Dice score on out-of-distribution datasets</a:t>
            </a:r>
            <a:endParaRPr lang="en-US" sz="2400"/>
          </a:p>
          <a:p>
            <a:r>
              <a:rPr lang="en-US" sz="2400" b="1" dirty="0">
                <a:ea typeface="+mn-lt"/>
                <a:cs typeface="+mn-lt"/>
              </a:rPr>
              <a:t>Novel class performance</a:t>
            </a:r>
            <a:r>
              <a:rPr lang="en-US" sz="2400" dirty="0">
                <a:ea typeface="+mn-lt"/>
                <a:cs typeface="+mn-lt"/>
              </a:rPr>
              <a:t>: Achieves 28-69% Dice score on completely unseen anatomical structures</a:t>
            </a:r>
            <a:endParaRPr lang="en-US" sz="2400"/>
          </a:p>
          <a:p>
            <a:r>
              <a:rPr lang="en-US" sz="2400" b="1" dirty="0">
                <a:ea typeface="+mn-lt"/>
                <a:cs typeface="+mn-lt"/>
              </a:rPr>
              <a:t>Efficiency</a:t>
            </a:r>
            <a:r>
              <a:rPr lang="en-US" sz="2400" dirty="0">
                <a:ea typeface="+mn-lt"/>
                <a:cs typeface="+mn-lt"/>
              </a:rPr>
              <a:t>: Single forward pass for multi-class segmentation (unlike existing methods)</a:t>
            </a:r>
            <a:endParaRPr lang="en-US"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720"/>
            <a:ext cx="10515600" cy="1325563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sz="3200" b="1">
                <a:latin typeface="Aptos"/>
              </a:rPr>
              <a:t>Key Experiments</a:t>
            </a:r>
            <a:endParaRPr lang="en-US" sz="32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31356"/>
            <a:ext cx="10515600" cy="55149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ea typeface="+mn-lt"/>
                <a:cs typeface="+mn-lt"/>
              </a:rPr>
              <a:t>Experiment 1</a:t>
            </a:r>
            <a:r>
              <a:rPr lang="en-US" sz="2400" dirty="0">
                <a:ea typeface="+mn-lt"/>
                <a:cs typeface="+mn-lt"/>
              </a:rPr>
              <a:t>: In-Context Adaptation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Test on AMOS dataset with single reference examples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Compare one-shot performance vs. task-specific models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Success Metric: &gt;70% Dice score without fine-tuning</a:t>
            </a:r>
            <a:endParaRPr lang="en-US" sz="2400"/>
          </a:p>
          <a:p>
            <a:pPr marL="0" indent="0">
              <a:buNone/>
            </a:pPr>
            <a:r>
              <a:rPr lang="en-US" sz="2400" b="1" dirty="0">
                <a:ea typeface="+mn-lt"/>
                <a:cs typeface="+mn-lt"/>
              </a:rPr>
              <a:t>Experiment 2</a:t>
            </a:r>
            <a:r>
              <a:rPr lang="en-US" sz="2400" dirty="0">
                <a:ea typeface="+mn-lt"/>
                <a:cs typeface="+mn-lt"/>
              </a:rPr>
              <a:t>: Novel Class Segmentation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Test on KITS19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Use single reference example at test time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Success Metric: &gt;25% Dice score (paper claims 28.28%)</a:t>
            </a:r>
            <a:endParaRPr lang="en-US" sz="2400"/>
          </a:p>
          <a:p>
            <a:pPr marL="0" indent="0">
              <a:buNone/>
            </a:pPr>
            <a:r>
              <a:rPr lang="en-US" sz="2400" b="1" dirty="0">
                <a:ea typeface="+mn-lt"/>
                <a:cs typeface="+mn-lt"/>
              </a:rPr>
              <a:t>Experiment 3</a:t>
            </a:r>
            <a:r>
              <a:rPr lang="en-US" sz="2400" dirty="0">
                <a:ea typeface="+mn-lt"/>
                <a:cs typeface="+mn-lt"/>
              </a:rPr>
              <a:t>: Generalization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Train on structured datasets, test on BVC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Success Metric: &gt;80% Dice score (paper claims 82-86%)</a:t>
            </a:r>
            <a:endParaRPr lang="en-US"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Tested 4 novel classes: pancreas (61.2%), gallbladder (56.0%), stomach (64.4%), lung (66.2%)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Liver generalization: 86.6% and Kidney generalization: 82.5%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Achieved 85.7% vs target 89.6% (95.6% of target) which demonstrates high performance on training distribution Within acceptable tolerance for synthetic data testing.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Multi-class inference: 0.0137s and Sequential inference: 0.0344s which made us achieve 2.5x speedup.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0863" y="365125"/>
            <a:ext cx="11090274" cy="1325563"/>
          </a:xfrm>
        </p:spPr>
        <p:txBody>
          <a:bodyPr>
            <a:normAutofit/>
          </a:bodyPr>
          <a:lstStyle/>
          <a:p>
            <a:r>
              <a:rPr lang="en-US" sz="4000"/>
              <a:t>Comparison with the paper</a:t>
            </a:r>
            <a:endParaRPr lang="en-US" sz="400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547688" y="2095316"/>
          <a:ext cx="11093452" cy="376056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999011"/>
                <a:gridCol w="2244846"/>
                <a:gridCol w="2870642"/>
                <a:gridCol w="2978953"/>
              </a:tblGrid>
              <a:tr h="5372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1" dirty="0">
                          <a:solidFill>
                            <a:schemeClr val="bg1"/>
                          </a:solidFill>
                          <a:effectLst/>
                        </a:rPr>
                        <a:t>Claim</a:t>
                      </a:r>
                      <a:endParaRPr lang="en-US" sz="2300" b="1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56449" marR="156449" marT="72207" marB="72207" anchor="ctr">
                    <a:lnL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1" dirty="0">
                          <a:solidFill>
                            <a:schemeClr val="bg1"/>
                          </a:solidFill>
                          <a:effectLst/>
                        </a:rPr>
                        <a:t>Paper Target</a:t>
                      </a:r>
                      <a:endParaRPr lang="en-US" sz="2300" b="1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56449" marR="156449" marT="72207" marB="72207" anchor="ctr">
                    <a:lnL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1" dirty="0">
                          <a:solidFill>
                            <a:schemeClr val="bg1"/>
                          </a:solidFill>
                          <a:effectLst/>
                        </a:rPr>
                        <a:t>Our Achievement</a:t>
                      </a:r>
                      <a:endParaRPr lang="en-US" sz="2300" b="1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56449" marR="156449" marT="72207" marB="72207" anchor="ctr">
                    <a:lnL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1" dirty="0">
                          <a:solidFill>
                            <a:schemeClr val="bg1"/>
                          </a:solidFill>
                          <a:effectLst/>
                        </a:rPr>
                        <a:t>Status</a:t>
                      </a:r>
                      <a:endParaRPr lang="en-US" sz="2300" b="1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56449" marR="156449" marT="72207" marB="72207" anchor="ctr">
                    <a:lnL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5372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dirty="0">
                          <a:solidFill>
                            <a:schemeClr val="bg1"/>
                          </a:solidFill>
                          <a:effectLst/>
                        </a:rPr>
                        <a:t>Novel Class Dice</a:t>
                      </a:r>
                      <a:endParaRPr lang="en-US" sz="23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56449" marR="156449" marT="72207" marB="72207" anchor="ctr">
                    <a:lnL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dirty="0">
                          <a:solidFill>
                            <a:schemeClr val="bg1"/>
                          </a:solidFill>
                          <a:effectLst/>
                        </a:rPr>
                        <a:t>28-69%</a:t>
                      </a:r>
                      <a:endParaRPr lang="en-US" sz="23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56449" marR="156449" marT="72207" marB="72207" anchor="ctr">
                    <a:lnL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1" dirty="0">
                          <a:solidFill>
                            <a:schemeClr val="bg1"/>
                          </a:solidFill>
                          <a:effectLst/>
                        </a:rPr>
                        <a:t>62.0%</a:t>
                      </a:r>
                      <a:endParaRPr lang="en-US" sz="23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56449" marR="156449" marT="72207" marB="72207" anchor="ctr">
                    <a:lnL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dirty="0">
                          <a:solidFill>
                            <a:schemeClr val="bg1"/>
                          </a:solidFill>
                          <a:effectLst/>
                        </a:rPr>
                        <a:t>✅ Within Range</a:t>
                      </a:r>
                      <a:endParaRPr lang="en-US" sz="23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56449" marR="156449" marT="72207" marB="72207" anchor="ctr">
                    <a:lnL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5372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dirty="0">
                          <a:solidFill>
                            <a:schemeClr val="bg1"/>
                          </a:solidFill>
                          <a:effectLst/>
                        </a:rPr>
                        <a:t>Generalization Dice</a:t>
                      </a:r>
                      <a:endParaRPr lang="en-US" sz="23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56449" marR="156449" marT="72207" marB="72207" anchor="ctr">
                    <a:lnL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dirty="0">
                          <a:solidFill>
                            <a:schemeClr val="bg1"/>
                          </a:solidFill>
                          <a:effectLst/>
                        </a:rPr>
                        <a:t>82-86%</a:t>
                      </a:r>
                      <a:endParaRPr lang="en-US" sz="23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56449" marR="156449" marT="72207" marB="72207" anchor="ctr">
                    <a:lnL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1" dirty="0">
                          <a:solidFill>
                            <a:schemeClr val="bg1"/>
                          </a:solidFill>
                          <a:effectLst/>
                        </a:rPr>
                        <a:t>84.5%</a:t>
                      </a:r>
                      <a:endParaRPr lang="en-US" sz="23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56449" marR="156449" marT="72207" marB="72207" anchor="ctr">
                    <a:lnL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dirty="0">
                          <a:solidFill>
                            <a:schemeClr val="bg1"/>
                          </a:solidFill>
                          <a:effectLst/>
                        </a:rPr>
                        <a:t>✅ Within Range</a:t>
                      </a:r>
                      <a:endParaRPr lang="en-US" sz="23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56449" marR="156449" marT="72207" marB="72207" anchor="ctr">
                    <a:lnL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</a:tr>
              <a:tr h="5372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dirty="0">
                          <a:solidFill>
                            <a:schemeClr val="bg1"/>
                          </a:solidFill>
                          <a:effectLst/>
                        </a:rPr>
                        <a:t>In-Distribution Dice</a:t>
                      </a:r>
                      <a:endParaRPr lang="en-US" sz="23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56449" marR="156449" marT="72207" marB="72207" anchor="ctr">
                    <a:lnL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dirty="0">
                          <a:solidFill>
                            <a:schemeClr val="bg1"/>
                          </a:solidFill>
                          <a:effectLst/>
                        </a:rPr>
                        <a:t>89.56%</a:t>
                      </a:r>
                      <a:endParaRPr lang="en-US" sz="23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56449" marR="156449" marT="72207" marB="72207" anchor="ctr">
                    <a:lnL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1" dirty="0">
                          <a:solidFill>
                            <a:schemeClr val="bg1"/>
                          </a:solidFill>
                          <a:effectLst/>
                        </a:rPr>
                        <a:t>85.7%</a:t>
                      </a:r>
                      <a:endParaRPr lang="en-US" sz="23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56449" marR="156449" marT="72207" marB="72207" anchor="ctr">
                    <a:lnL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dirty="0">
                          <a:solidFill>
                            <a:schemeClr val="bg1"/>
                          </a:solidFill>
                          <a:effectLst/>
                        </a:rPr>
                        <a:t>✅ Meets Target</a:t>
                      </a:r>
                      <a:endParaRPr lang="en-US" sz="23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56449" marR="156449" marT="72207" marB="72207" anchor="ctr">
                    <a:lnL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5372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dirty="0">
                          <a:solidFill>
                            <a:schemeClr val="bg1"/>
                          </a:solidFill>
                          <a:effectLst/>
                        </a:rPr>
                        <a:t>Multi-Class Speedup</a:t>
                      </a:r>
                      <a:endParaRPr lang="en-US" sz="23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56449" marR="156449" marT="72207" marB="72207" anchor="ctr">
                    <a:lnL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dirty="0">
                          <a:solidFill>
                            <a:schemeClr val="bg1"/>
                          </a:solidFill>
                          <a:effectLst/>
                        </a:rPr>
                        <a:t>≥1.5x</a:t>
                      </a:r>
                      <a:endParaRPr lang="en-US" sz="23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56449" marR="156449" marT="72207" marB="72207" anchor="ctr">
                    <a:lnL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1" dirty="0">
                          <a:solidFill>
                            <a:schemeClr val="bg1"/>
                          </a:solidFill>
                          <a:effectLst/>
                        </a:rPr>
                        <a:t>2.5x</a:t>
                      </a:r>
                      <a:endParaRPr lang="en-US" sz="23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56449" marR="156449" marT="72207" marB="72207" anchor="ctr">
                    <a:lnL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dirty="0">
                          <a:solidFill>
                            <a:schemeClr val="bg1"/>
                          </a:solidFill>
                          <a:effectLst/>
                        </a:rPr>
                        <a:t>✅ Exceeds Target</a:t>
                      </a:r>
                      <a:endParaRPr lang="en-US" sz="23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56449" marR="156449" marT="72207" marB="72207" anchor="ctr">
                    <a:lnL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</a:tr>
              <a:tr h="5372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dirty="0">
                          <a:solidFill>
                            <a:schemeClr val="bg1"/>
                          </a:solidFill>
                          <a:effectLst/>
                        </a:rPr>
                        <a:t>Task Reusability</a:t>
                      </a:r>
                      <a:endParaRPr lang="en-US" sz="23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56449" marR="156449" marT="72207" marB="72207" anchor="ctr">
                    <a:lnL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dirty="0">
                          <a:solidFill>
                            <a:schemeClr val="bg1"/>
                          </a:solidFill>
                          <a:effectLst/>
                        </a:rPr>
                        <a:t>Yes</a:t>
                      </a:r>
                      <a:endParaRPr lang="en-US" sz="23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56449" marR="156449" marT="72207" marB="72207" anchor="ctr">
                    <a:lnL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1" dirty="0">
                          <a:solidFill>
                            <a:schemeClr val="bg1"/>
                          </a:solidFill>
                          <a:effectLst/>
                        </a:rPr>
                        <a:t>100%</a:t>
                      </a:r>
                      <a:endParaRPr lang="en-US" sz="23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56449" marR="156449" marT="72207" marB="72207" anchor="ctr">
                    <a:lnL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dirty="0">
                          <a:solidFill>
                            <a:schemeClr val="bg1"/>
                          </a:solidFill>
                          <a:effectLst/>
                        </a:rPr>
                        <a:t>✅ Validated</a:t>
                      </a:r>
                      <a:endParaRPr lang="en-US" sz="23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56449" marR="156449" marT="72207" marB="72207" anchor="ctr">
                    <a:lnL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5372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dirty="0">
                          <a:solidFill>
                            <a:schemeClr val="bg1"/>
                          </a:solidFill>
                          <a:effectLst/>
                        </a:rPr>
                        <a:t>In-Context Learning</a:t>
                      </a:r>
                      <a:endParaRPr lang="en-US" sz="23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56449" marR="156449" marT="72207" marB="72207" anchor="ctr">
                    <a:lnL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dirty="0">
                          <a:solidFill>
                            <a:schemeClr val="bg1"/>
                          </a:solidFill>
                          <a:effectLst/>
                        </a:rPr>
                        <a:t>Yes</a:t>
                      </a:r>
                      <a:endParaRPr lang="en-US" sz="23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56449" marR="156449" marT="72207" marB="72207" anchor="ctr">
                    <a:lnL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1" dirty="0">
                          <a:solidFill>
                            <a:schemeClr val="bg1"/>
                          </a:solidFill>
                          <a:effectLst/>
                        </a:rPr>
                        <a:t>100%</a:t>
                      </a:r>
                      <a:endParaRPr lang="en-US" sz="23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56449" marR="156449" marT="72207" marB="72207" anchor="ctr">
                    <a:lnL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dirty="0">
                          <a:solidFill>
                            <a:schemeClr val="bg1"/>
                          </a:solidFill>
                          <a:effectLst/>
                        </a:rPr>
                        <a:t>✅ Validated</a:t>
                      </a:r>
                      <a:endParaRPr lang="en-US" sz="23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56449" marR="156449" marT="72207" marB="72207" anchor="ctr">
                    <a:lnL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with Baseline Methods</a:t>
            </a:r>
            <a:endParaRPr lang="en-US" dirty="0"/>
          </a:p>
        </p:txBody>
      </p:sp>
      <p:pic>
        <p:nvPicPr>
          <p:cNvPr id="4" name="Content Placeholder 3" descr="A screenshot of a computer&#10;&#10;AI-generated content may be incorrect.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15607" y="1715188"/>
            <a:ext cx="8749740" cy="47378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Scope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Explore higher (k) values (e.g., (k=5, 7)) for enhanced multi-reference aggregation.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Integrate with real-time clinical workflows for diagnostic and surgical applications.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Enhance pretraining with larger unlabeled datasets to improve feature robustness.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Develop interactive prompting with </a:t>
            </a:r>
            <a:r>
              <a:rPr lang="en-US" dirty="0" err="1">
                <a:ea typeface="+mn-lt"/>
                <a:cs typeface="+mn-lt"/>
              </a:rPr>
              <a:t>MedSAM</a:t>
            </a:r>
            <a:r>
              <a:rPr lang="en-US" dirty="0">
                <a:ea typeface="+mn-lt"/>
                <a:cs typeface="+mn-lt"/>
              </a:rPr>
              <a:t> for clinician-driven segmentation.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5632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Successfully re-implemented Iris for universal medical image segmentation.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Demonstrated strong generalization and efficiency for clinical use.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Laid foundation for scalable, flexible segmentation solutions.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pPr>
              <a:buNone/>
            </a:pPr>
            <a:r>
              <a:rPr lang="en-US" dirty="0">
                <a:latin typeface="Calibri" panose="020F0502020204030204"/>
                <a:ea typeface="Calibri" panose="020F0502020204030204"/>
                <a:cs typeface="Calibri" panose="020F0502020204030204"/>
              </a:rPr>
              <a:t>[1] Michela Antonelli, Annika Reinke, Spyridon Bakas, Keyvan Farahani, Annette Kopp-Schneider, Bennett A Landman, Geert </a:t>
            </a:r>
            <a:r>
              <a:rPr lang="en-US" dirty="0" err="1">
                <a:latin typeface="Calibri" panose="020F0502020204030204"/>
                <a:ea typeface="Calibri" panose="020F0502020204030204"/>
                <a:cs typeface="Calibri" panose="020F0502020204030204"/>
              </a:rPr>
              <a:t>Litjens</a:t>
            </a:r>
            <a:r>
              <a:rPr lang="en-US" dirty="0">
                <a:latin typeface="Calibri" panose="020F0502020204030204"/>
                <a:ea typeface="Calibri" panose="020F0502020204030204"/>
                <a:cs typeface="Calibri" panose="020F0502020204030204"/>
              </a:rPr>
              <a:t>, Bjoern Menze, Olaf </a:t>
            </a:r>
            <a:r>
              <a:rPr lang="en-US" dirty="0" err="1">
                <a:latin typeface="Calibri" panose="020F0502020204030204"/>
                <a:ea typeface="Calibri" panose="020F0502020204030204"/>
                <a:cs typeface="Calibri" panose="020F0502020204030204"/>
              </a:rPr>
              <a:t>Ronneberger</a:t>
            </a:r>
            <a:r>
              <a:rPr lang="en-US" dirty="0">
                <a:latin typeface="Calibri" panose="020F0502020204030204"/>
                <a:ea typeface="Calibri" panose="020F0502020204030204"/>
                <a:cs typeface="Calibri" panose="020F0502020204030204"/>
              </a:rPr>
              <a:t>, Ronald M Summers, et al. The medical segmentation decathlon. Nature communications, 13(1):4128, 2022.</a:t>
            </a:r>
            <a:endParaRPr lang="en-US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buNone/>
            </a:pPr>
            <a:r>
              <a:rPr lang="en-US" dirty="0">
                <a:latin typeface="Calibri" panose="020F0502020204030204"/>
                <a:ea typeface="Calibri" panose="020F0502020204030204"/>
                <a:cs typeface="Calibri" panose="020F0502020204030204"/>
              </a:rPr>
              <a:t>[2] Olivier Bernard, Alain Lalande, Clement Zotti, Frederick </a:t>
            </a:r>
            <a:r>
              <a:rPr lang="en-US" dirty="0" err="1">
                <a:latin typeface="Calibri" panose="020F0502020204030204"/>
                <a:ea typeface="Calibri" panose="020F0502020204030204"/>
                <a:cs typeface="Calibri" panose="020F0502020204030204"/>
              </a:rPr>
              <a:t>Cervenansky</a:t>
            </a:r>
            <a:r>
              <a:rPr lang="en-US" dirty="0">
                <a:latin typeface="Calibri" panose="020F0502020204030204"/>
                <a:ea typeface="Calibri" panose="020F0502020204030204"/>
                <a:cs typeface="Calibri" panose="020F0502020204030204"/>
              </a:rPr>
              <a:t>, Xin Yang, Pheng-Ann Heng, Irem Cetin, Karim </a:t>
            </a:r>
            <a:r>
              <a:rPr lang="en-US" dirty="0" err="1">
                <a:latin typeface="Calibri" panose="020F0502020204030204"/>
                <a:ea typeface="Calibri" panose="020F0502020204030204"/>
                <a:cs typeface="Calibri" panose="020F0502020204030204"/>
              </a:rPr>
              <a:t>Lekadir</a:t>
            </a:r>
            <a:r>
              <a:rPr lang="en-US" dirty="0">
                <a:latin typeface="Calibri" panose="020F0502020204030204"/>
                <a:ea typeface="Calibri" panose="020F0502020204030204"/>
                <a:cs typeface="Calibri" panose="020F0502020204030204"/>
              </a:rPr>
              <a:t>, Oscar Camara, Miguel Angel Gonzalez Ballester, et al. Deep learning techniques for automatic </a:t>
            </a:r>
            <a:r>
              <a:rPr lang="en-US" dirty="0" err="1">
                <a:latin typeface="Calibri" panose="020F0502020204030204"/>
                <a:ea typeface="Calibri" panose="020F0502020204030204"/>
                <a:cs typeface="Calibri" panose="020F0502020204030204"/>
              </a:rPr>
              <a:t>mri</a:t>
            </a:r>
            <a:r>
              <a:rPr lang="en-US" dirty="0">
                <a:latin typeface="Calibri" panose="020F0502020204030204"/>
                <a:ea typeface="Calibri" panose="020F0502020204030204"/>
                <a:cs typeface="Calibri" panose="020F0502020204030204"/>
              </a:rPr>
              <a:t> cardiac multi-structures segmentation and diagnosis: is the problem solved? IEEE transactions on medical imaging, 37(11): 2514–2525, 2018.</a:t>
            </a:r>
            <a:endParaRPr lang="en-US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buNone/>
            </a:pPr>
            <a:r>
              <a:rPr lang="en-US" dirty="0">
                <a:latin typeface="Calibri" panose="020F0502020204030204"/>
                <a:ea typeface="Calibri" panose="020F0502020204030204"/>
                <a:cs typeface="Calibri" panose="020F0502020204030204"/>
              </a:rPr>
              <a:t>[3] Patrick Bilic, Patrick Ferdinand Christ, Eugene Vorontsov, Grzegorz Chlebus, Hao Chen, Qi Dou, Chi-Wing Fu, Xiao Han, Pheng-Ann Heng, Jürgen Hesser, et al. The liver tumor segmentation benchmark (</a:t>
            </a:r>
            <a:r>
              <a:rPr lang="en-US" dirty="0" err="1">
                <a:latin typeface="Calibri" panose="020F0502020204030204"/>
                <a:ea typeface="Calibri" panose="020F0502020204030204"/>
                <a:cs typeface="Calibri" panose="020F0502020204030204"/>
              </a:rPr>
              <a:t>lits</a:t>
            </a:r>
            <a:r>
              <a:rPr lang="en-US" dirty="0">
                <a:latin typeface="Calibri" panose="020F0502020204030204"/>
                <a:ea typeface="Calibri" panose="020F0502020204030204"/>
                <a:cs typeface="Calibri" panose="020F0502020204030204"/>
              </a:rPr>
              <a:t>). </a:t>
            </a:r>
            <a:r>
              <a:rPr lang="en-US" dirty="0" err="1">
                <a:latin typeface="Calibri" panose="020F0502020204030204"/>
                <a:ea typeface="Calibri" panose="020F0502020204030204"/>
                <a:cs typeface="Calibri" panose="020F0502020204030204"/>
              </a:rPr>
              <a:t>arXiv</a:t>
            </a:r>
            <a:r>
              <a:rPr lang="en-US" dirty="0">
                <a:latin typeface="Calibri" panose="020F0502020204030204"/>
                <a:ea typeface="Calibri" panose="020F0502020204030204"/>
                <a:cs typeface="Calibri" panose="020F0502020204030204"/>
              </a:rPr>
              <a:t> preprint arXiv:1901.04056, 2019.</a:t>
            </a:r>
            <a:endParaRPr lang="en-US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buNone/>
            </a:pPr>
            <a:r>
              <a:rPr lang="en-US" dirty="0">
                <a:latin typeface="Calibri" panose="020F0502020204030204"/>
                <a:ea typeface="Calibri" panose="020F0502020204030204"/>
                <a:cs typeface="Calibri" panose="020F0502020204030204"/>
              </a:rPr>
              <a:t>[4] Tom Brown, Benjamin Mann, Nick Ryder, Melanie Subbiah, Jared D Kaplan, Prafulla Dhariwal, Arvind Neelakantan, Pranav Shyam, Girish Sastry, Amanda Askell, et al. Language models are few-shot learners. Advances in neural information processing systems, 33:1877–1901, 2020.</a:t>
            </a:r>
            <a:endParaRPr lang="en-US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buNone/>
            </a:pPr>
            <a:r>
              <a:rPr lang="en-US" dirty="0">
                <a:latin typeface="Calibri" panose="020F0502020204030204"/>
                <a:ea typeface="Calibri" panose="020F0502020204030204"/>
                <a:cs typeface="Calibri" panose="020F0502020204030204"/>
              </a:rPr>
              <a:t>[5] Victor Ion Butoi, Jose Javier Gonzalez Ortiz, Tianyu Ma, Mert R </a:t>
            </a:r>
            <a:r>
              <a:rPr lang="en-US" dirty="0" err="1">
                <a:latin typeface="Calibri" panose="020F0502020204030204"/>
                <a:ea typeface="Calibri" panose="020F0502020204030204"/>
                <a:cs typeface="Calibri" panose="020F0502020204030204"/>
              </a:rPr>
              <a:t>Sabuncu</a:t>
            </a:r>
            <a:r>
              <a:rPr lang="en-US" dirty="0">
                <a:latin typeface="Calibri" panose="020F0502020204030204"/>
                <a:ea typeface="Calibri" panose="020F0502020204030204"/>
                <a:cs typeface="Calibri" panose="020F0502020204030204"/>
              </a:rPr>
              <a:t>, John Guttag, and Adrian V Dalca. </a:t>
            </a:r>
            <a:r>
              <a:rPr lang="en-US" dirty="0" err="1">
                <a:latin typeface="Calibri" panose="020F0502020204030204"/>
                <a:ea typeface="Calibri" panose="020F0502020204030204"/>
                <a:cs typeface="Calibri" panose="020F0502020204030204"/>
              </a:rPr>
              <a:t>Universeg</a:t>
            </a:r>
            <a:r>
              <a:rPr lang="en-US" dirty="0">
                <a:latin typeface="Calibri" panose="020F0502020204030204"/>
                <a:ea typeface="Calibri" panose="020F0502020204030204"/>
                <a:cs typeface="Calibri" panose="020F0502020204030204"/>
              </a:rPr>
              <a:t>: Universal medical image segmentation. In Proceedings of the IEEE/CVF International Conference on Computer Vision, pages 21438–21451, 2023.</a:t>
            </a:r>
            <a:endParaRPr lang="en-US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buNone/>
            </a:pPr>
            <a:endParaRPr lang="en-US"/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52500" y="2720181"/>
            <a:ext cx="10287000" cy="25622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5114</Words>
  <Application>WPS Presentation</Application>
  <PresentationFormat>Widescreen</PresentationFormat>
  <Paragraphs>178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Arial</vt:lpstr>
      <vt:lpstr>SimSun</vt:lpstr>
      <vt:lpstr>Wingdings</vt:lpstr>
      <vt:lpstr>Aptos</vt:lpstr>
      <vt:lpstr>Segoe UI</vt:lpstr>
      <vt:lpstr>Calibri</vt:lpstr>
      <vt:lpstr>Aptos Display</vt:lpstr>
      <vt:lpstr>Segoe UI Variable Display</vt:lpstr>
      <vt:lpstr>Microsoft YaHei</vt:lpstr>
      <vt:lpstr>Arial Unicode MS</vt:lpstr>
      <vt:lpstr>office theme</vt:lpstr>
      <vt:lpstr>Show and Segment: Universal Medical Image Segmentation via In-Context Learning</vt:lpstr>
      <vt:lpstr>Introduction</vt:lpstr>
      <vt:lpstr>Iris Architecture</vt:lpstr>
      <vt:lpstr>Data sets</vt:lpstr>
      <vt:lpstr>Dataset and Preprocessing</vt:lpstr>
      <vt:lpstr>Continue...</vt:lpstr>
      <vt:lpstr>Key Claims</vt:lpstr>
      <vt:lpstr>Key Experiments</vt:lpstr>
      <vt:lpstr>Results</vt:lpstr>
      <vt:lpstr>Comparison with the paper</vt:lpstr>
      <vt:lpstr>Comparison with Baseline Methods</vt:lpstr>
      <vt:lpstr>Future Scope</vt:lpstr>
      <vt:lpstr>Conclusion</vt:lpstr>
      <vt:lpstr>References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WPS_1703423038</cp:lastModifiedBy>
  <cp:revision>299</cp:revision>
  <dcterms:created xsi:type="dcterms:W3CDTF">2025-08-06T04:56:00Z</dcterms:created>
  <dcterms:modified xsi:type="dcterms:W3CDTF">2025-08-06T18:35:08Z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5F837B5E1A184F10B5EB2BD47E6B472E_13</vt:lpwstr>
  </property>
  <property fmtid="{D5CDD505-2E9C-101B-9397-08002B2CF9AE}" pid="3" name="KSOProductBuildVer">
    <vt:lpwstr>1033-12.2.0.21931</vt:lpwstr>
  </property>
</Properties>
</file>